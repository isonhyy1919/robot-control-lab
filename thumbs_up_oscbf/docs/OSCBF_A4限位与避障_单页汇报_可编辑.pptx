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52f3b3c6f6426c" /><Relationship Type="http://schemas.openxmlformats.org/officeDocument/2006/relationships/extended-properties" Target="/docProps/app.xml" Id="Rbcabdb51409d4a8b" /><Relationship Type="http://schemas.openxmlformats.org/officeDocument/2006/relationships/officeDocument" Target="/ppt/presentation.xml" Id="Rb2e8abb4a85142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85b2517094583"/>
  </p:sldMasterIdLst>
  <p:notesMasterIdLst>
    <p:notesMasterId xmlns:r="http://schemas.openxmlformats.org/officeDocument/2006/relationships" r:id="R4b8cad2a433a4f85"/>
  </p:notesMasterIdLst>
  <p:sldIdLst>
    <p:sldId xmlns:r="http://schemas.openxmlformats.org/officeDocument/2006/relationships" id="256" r:id="R98da8ab54c5349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899b8cc254534" /><Relationship Type="http://schemas.openxmlformats.org/officeDocument/2006/relationships/slideMaster" Target="/ppt/slideMasters/slideMaster1.xml" Id="Rc0885b2517094583" /><Relationship Type="http://schemas.openxmlformats.org/officeDocument/2006/relationships/notesMaster" Target="/ppt/notesMasters/notesMaster1.xml" Id="R4b8cad2a433a4f85" /><Relationship Type="http://schemas.openxmlformats.org/officeDocument/2006/relationships/presProps" Target="/ppt/presProps.xml" Id="R61c3c7fc6ff949f5" /><Relationship Type="http://schemas.openxmlformats.org/officeDocument/2006/relationships/tableStyles" Target="/ppt/tableStyles.xml" Id="Rf52e7bc552484241" /><Relationship Type="http://schemas.openxmlformats.org/officeDocument/2006/relationships/slide" Target="/ppt/slides/slide1.xml" Id="R98da8ab54c53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4b1bca520d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ed5be72c54978" /><Relationship Type="http://schemas.openxmlformats.org/officeDocument/2006/relationships/notesMaster" Target="/ppt/notesMasters/notesMaster1.xml" Id="Ra604532122fd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讲解重点：左图说明安全层会重分配局部运动；右上图说明A4参考越限时，OSCBF实际执行轨迹仍保持在0 rad以上。</a:t>
            </a:r>
          </a:p>
          <a:p xmlns:a="http://schemas.openxmlformats.org/drawingml/2006/main">
            <a:r>
              <a:t>量化结论：A4最小值从-0.500 rad修正至数值误差量级的0 rad；限位违规点1537降至0；障碍物屏障min h=0.000121 m且无违规点；点赞保持阶段末端差异1.56 cm。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C:/Users/YSGS/Documents/斯坦福CBF抓取/mujoco_oscbf_reproduction/outputs/a4_joint_limit_comparison/comparison_summary.json</a:t>
            </a:r>
          </a:p>
          <a:p xmlns:a="http://schemas.openxmlformats.org/drawingml/2006/main">
            <a:r>
              <a:t>- C:/Users/YSGS/Documents/斯坦福CBF抓取/mujoco_oscbf_reproduction/outputs/a4_joint_limit_comparison/result_figures/04_末端轨迹与结果汇总.png</a:t>
            </a:r>
          </a:p>
          <a:p xmlns:a="http://schemas.openxmlformats.org/drawingml/2006/main">
            <a:r>
              <a:t>- C:/Users/YSGS/Documents/斯坦福CBF抓取/mujoco_oscbf_reproduction/outputs/a4_joint_limit_comparison/result_figures/05_带障碍物场景_A4关节轨迹.png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2e5a2e58642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83c01a44204ab3" /><Relationship Type="http://schemas.openxmlformats.org/officeDocument/2006/relationships/slideLayout" Target="/ppt/slideLayouts/slideLayout1.xml" Id="R560c8eb531d844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0c8eb531d844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11f31b3524cee" /><Relationship Type="http://schemas.openxmlformats.org/officeDocument/2006/relationships/image" Target="/ppt/media/image.png" Id="Rd843361b08384889" /><Relationship Type="http://schemas.openxmlformats.org/officeDocument/2006/relationships/image" Target="/ppt/media/image2.png" Id="Rec73ae1679474dfd" /><Relationship Type="http://schemas.openxmlformats.org/officeDocument/2006/relationships/notesSlide" Target="/ppt/notesSlides/notesSlide1.xml" Id="R188cfff6a0074a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52EE5E7-89A9-4CDB-B685-1C89A41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1677B8"/>
            </a:solidFill>
            <a:prstDash val="solid"/>
          </a:ln>
        </p:spPr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E986F08-2984-4F13-B269-0A10E08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2742"/>
                </a:solidFill>
              </a:defRPr>
            </a:pPr>
            <a:r>
              <a:rPr sz="3450" b="1">
                <a:solidFill>
                  <a:srgbClr val="0F2742"/>
                </a:solidFill>
              </a:rPr>
              <a:t>OSCBF同时阻止A4越限与障碍物碰撞</a:t>
            </a:r>
          </a:p>
        </p:txBody>
      </p:sp>
      <p:sp>
        <p:nvSpPr>
          <p:cNvPr id="3" name="method-line">
            <a:extLst xmlns:a="http://schemas.openxmlformats.org/drawingml/2006/main">
              <a:ext uri="{FF2B5EF4-FFF2-40B4-BE49-F238E27FC236}">
                <a16:creationId xmlns:a16="http://schemas.microsoft.com/office/drawing/2014/main" id="{48DDCEDA-C154-44D1-B454-E41A5260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7D"/>
                </a:solidFill>
              </a:defRPr>
            </a:pPr>
            <a:r>
              <a:rPr sz="1275">
                <a:solidFill>
                  <a:srgbClr val="5B6B7D"/>
                </a:solidFill>
              </a:rPr>
              <a:t>A7V2 MuJoCo验证｜速度层任务一致OSCBF｜控制周期 5 ms｜α = 10｜14个碰撞球</a:t>
            </a:r>
          </a:p>
        </p:txBody>
      </p:sp>
      <p:sp>
        <p:nvSpPr>
          <p:cNvPr id="4" name="a7-panel">
            <a:extLst xmlns:a="http://schemas.openxmlformats.org/drawingml/2006/main">
              <a:ext uri="{FF2B5EF4-FFF2-40B4-BE49-F238E27FC236}">
                <a16:creationId xmlns:a16="http://schemas.microsoft.com/office/drawing/2014/main" id="{92FB68A9-28B9-475A-AE38-B6B05D4B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4953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3361b08384889"/>
          <a:stretch xmlns:a="http://schemas.openxmlformats.org/drawingml/2006/main"/>
        </p:blipFill>
        <p:spPr>
          <a:xfrm xmlns:a="http://schemas.openxmlformats.org/drawingml/2006/main">
            <a:off x="569259" y="1276350"/>
            <a:ext cx="4728882" cy="4019550"/>
          </a:xfrm>
          <a:prstGeom xmlns:a="http://schemas.openxmlformats.org/drawingml/2006/main" prst="roundRect">
            <a:avLst>
              <a:gd name="adj" fmla="val 1896"/>
            </a:avLst>
          </a:prstGeom>
        </p:spPr>
      </p:pic>
      <p:sp>
        <p:nvSpPr>
          <p:cNvPr id="6" name="a4-panel">
            <a:extLst xmlns:a="http://schemas.openxmlformats.org/drawingml/2006/main">
              <a:ext uri="{FF2B5EF4-FFF2-40B4-BE49-F238E27FC236}">
                <a16:creationId xmlns:a16="http://schemas.microsoft.com/office/drawing/2014/main" id="{01DA1B9D-03DB-4592-AF9B-937A4686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00150"/>
            <a:ext cx="6134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5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3ae1679474dfd"/>
          <a:stretch xmlns:a="http://schemas.openxmlformats.org/drawingml/2006/main"/>
        </p:blipFill>
        <p:spPr>
          <a:xfrm xmlns:a="http://schemas.openxmlformats.org/drawingml/2006/main">
            <a:off x="5676900" y="1284690"/>
            <a:ext cx="5981700" cy="148827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8" name="metric-A4最小值">
            <a:extLst xmlns:a="http://schemas.openxmlformats.org/drawingml/2006/main">
              <a:ext uri="{FF2B5EF4-FFF2-40B4-BE49-F238E27FC236}">
                <a16:creationId xmlns:a16="http://schemas.microsoft.com/office/drawing/2014/main" id="{C2491232-8C98-47C7-B053-880DD3A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9900"/>
            <a:ext cx="2990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accent-A4最小值">
            <a:extLst xmlns:a="http://schemas.openxmlformats.org/drawingml/2006/main">
              <a:ext uri="{FF2B5EF4-FFF2-40B4-BE49-F238E27FC236}">
                <a16:creationId xmlns:a16="http://schemas.microsoft.com/office/drawing/2014/main" id="{CA79D85C-484A-4B9E-9856-BD45335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990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155"/>
          </a:solidFill>
          <a:ln xmlns:a="http://schemas.openxmlformats.org/drawingml/2006/main" w="0">
            <a:solidFill>
              <a:srgbClr val="D94155"/>
            </a:solidFill>
            <a:prstDash val="solid"/>
          </a:ln>
        </p:spPr>
      </p:sp>
      <p:sp>
        <p:nvSpPr>
          <p:cNvPr id="10" name="title-A4最小值">
            <a:extLst xmlns:a="http://schemas.openxmlformats.org/drawingml/2006/main">
              <a:ext uri="{FF2B5EF4-FFF2-40B4-BE49-F238E27FC236}">
                <a16:creationId xmlns:a16="http://schemas.microsoft.com/office/drawing/2014/main" id="{78723955-EC5A-46CC-A7D4-9E21AD4C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337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A4最小值</a:t>
            </a:r>
          </a:p>
        </p:txBody>
      </p:sp>
      <p:sp>
        <p:nvSpPr>
          <p:cNvPr id="11" name="value-A4最小值">
            <a:extLst xmlns:a="http://schemas.openxmlformats.org/drawingml/2006/main">
              <a:ext uri="{FF2B5EF4-FFF2-40B4-BE49-F238E27FC236}">
                <a16:creationId xmlns:a16="http://schemas.microsoft.com/office/drawing/2014/main" id="{6BD284D1-B790-44F2-B52D-545BE0F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81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4155"/>
                </a:solidFill>
              </a:defRPr>
            </a:pPr>
            <a:r>
              <a:rPr sz="1950" b="1">
                <a:solidFill>
                  <a:srgbClr val="D94155"/>
                </a:solidFill>
              </a:rPr>
              <a:t>−0.500 → ≈0 rad</a:t>
            </a:r>
          </a:p>
        </p:txBody>
      </p:sp>
      <p:sp>
        <p:nvSpPr>
          <p:cNvPr id="12" name="detail-A4最小值">
            <a:extLst xmlns:a="http://schemas.openxmlformats.org/drawingml/2006/main">
              <a:ext uri="{FF2B5EF4-FFF2-40B4-BE49-F238E27FC236}">
                <a16:creationId xmlns:a16="http://schemas.microsoft.com/office/drawing/2014/main" id="{FC449BCF-4780-43C2-AE32-D9326C16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2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URDF允许范围 [0, 2.2] rad</a:t>
            </a:r>
          </a:p>
        </p:txBody>
      </p:sp>
      <p:sp>
        <p:nvSpPr>
          <p:cNvPr id="13" name="metric-限位违规采样点">
            <a:extLst xmlns:a="http://schemas.openxmlformats.org/drawingml/2006/main">
              <a:ext uri="{FF2B5EF4-FFF2-40B4-BE49-F238E27FC236}">
                <a16:creationId xmlns:a16="http://schemas.microsoft.com/office/drawing/2014/main" id="{F694E716-849F-4868-9E9C-4F311980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9900"/>
            <a:ext cx="2990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accent-限位违规采样点">
            <a:extLst xmlns:a="http://schemas.openxmlformats.org/drawingml/2006/main">
              <a:ext uri="{FF2B5EF4-FFF2-40B4-BE49-F238E27FC236}">
                <a16:creationId xmlns:a16="http://schemas.microsoft.com/office/drawing/2014/main" id="{D4844D0E-5D7F-4096-B119-8239DE8F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990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15" name="title-限位违规采样点">
            <a:extLst xmlns:a="http://schemas.openxmlformats.org/drawingml/2006/main">
              <a:ext uri="{FF2B5EF4-FFF2-40B4-BE49-F238E27FC236}">
                <a16:creationId xmlns:a16="http://schemas.microsoft.com/office/drawing/2014/main" id="{06336C9C-DB91-4A09-A4AE-C0A4C699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337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限位违规采样点</a:t>
            </a:r>
          </a:p>
        </p:txBody>
      </p:sp>
      <p:sp>
        <p:nvSpPr>
          <p:cNvPr id="16" name="value-限位违规采样点">
            <a:extLst xmlns:a="http://schemas.openxmlformats.org/drawingml/2006/main">
              <a:ext uri="{FF2B5EF4-FFF2-40B4-BE49-F238E27FC236}">
                <a16:creationId xmlns:a16="http://schemas.microsoft.com/office/drawing/2014/main" id="{A9E56AFD-D8E5-41AD-AEBC-4228AD98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81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554C0"/>
                </a:solidFill>
              </a:defRPr>
            </a:pPr>
            <a:r>
              <a:rPr sz="2250" b="1">
                <a:solidFill>
                  <a:srgbClr val="6554C0"/>
                </a:solidFill>
              </a:rPr>
              <a:t>1537 → 0</a:t>
            </a:r>
          </a:p>
        </p:txBody>
      </p:sp>
      <p:sp>
        <p:nvSpPr>
          <p:cNvPr id="17" name="detail-限位违规采样点">
            <a:extLst xmlns:a="http://schemas.openxmlformats.org/drawingml/2006/main">
              <a:ext uri="{FF2B5EF4-FFF2-40B4-BE49-F238E27FC236}">
                <a16:creationId xmlns:a16="http://schemas.microsoft.com/office/drawing/2014/main" id="{333CC509-D593-4A48-A0F7-D68CFC1D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62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OSCBF关闭 → 开启</a:t>
            </a:r>
          </a:p>
        </p:txBody>
      </p:sp>
      <p:sp>
        <p:nvSpPr>
          <p:cNvPr id="18" name="metric-障碍物安全屏障">
            <a:extLst xmlns:a="http://schemas.openxmlformats.org/drawingml/2006/main">
              <a:ext uri="{FF2B5EF4-FFF2-40B4-BE49-F238E27FC236}">
                <a16:creationId xmlns:a16="http://schemas.microsoft.com/office/drawing/2014/main" id="{C8036A5B-3BDB-4825-8A0D-713CF8EC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48150"/>
            <a:ext cx="2990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accent-障碍物安全屏障">
            <a:extLst xmlns:a="http://schemas.openxmlformats.org/drawingml/2006/main">
              <a:ext uri="{FF2B5EF4-FFF2-40B4-BE49-F238E27FC236}">
                <a16:creationId xmlns:a16="http://schemas.microsoft.com/office/drawing/2014/main" id="{3ECC816F-2715-44AD-B4F0-7C63A39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481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4"/>
          </a:solidFill>
          <a:ln xmlns:a="http://schemas.openxmlformats.org/drawingml/2006/main" w="0">
            <a:solidFill>
              <a:srgbClr val="159A74"/>
            </a:solidFill>
            <a:prstDash val="solid"/>
          </a:ln>
        </p:spPr>
      </p:sp>
      <p:sp>
        <p:nvSpPr>
          <p:cNvPr id="20" name="title-障碍物安全屏障">
            <a:extLst xmlns:a="http://schemas.openxmlformats.org/drawingml/2006/main">
              <a:ext uri="{FF2B5EF4-FFF2-40B4-BE49-F238E27FC236}">
                <a16:creationId xmlns:a16="http://schemas.microsoft.com/office/drawing/2014/main" id="{DA19E9E5-CC35-4541-8011-6F95396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719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障碍物安全屏障</a:t>
            </a:r>
          </a:p>
        </p:txBody>
      </p:sp>
      <p:sp>
        <p:nvSpPr>
          <p:cNvPr id="21" name="value-障碍物安全屏障">
            <a:extLst xmlns:a="http://schemas.openxmlformats.org/drawingml/2006/main">
              <a:ext uri="{FF2B5EF4-FFF2-40B4-BE49-F238E27FC236}">
                <a16:creationId xmlns:a16="http://schemas.microsoft.com/office/drawing/2014/main" id="{53E39331-0906-4CB0-ADA4-9AB4D3C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9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9A74"/>
                </a:solidFill>
              </a:defRPr>
            </a:pPr>
            <a:r>
              <a:rPr sz="1725" b="1">
                <a:solidFill>
                  <a:srgbClr val="159A74"/>
                </a:solidFill>
              </a:rPr>
              <a:t>min h = 1.21×10⁻⁴ m</a:t>
            </a:r>
          </a:p>
        </p:txBody>
      </p:sp>
      <p:sp>
        <p:nvSpPr>
          <p:cNvPr id="22" name="detail-障碍物安全屏障">
            <a:extLst xmlns:a="http://schemas.openxmlformats.org/drawingml/2006/main">
              <a:ext uri="{FF2B5EF4-FFF2-40B4-BE49-F238E27FC236}">
                <a16:creationId xmlns:a16="http://schemas.microsoft.com/office/drawing/2014/main" id="{7DD40995-DBB2-4CCB-8221-D2BA410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00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障碍物违规采样点：0</a:t>
            </a:r>
          </a:p>
        </p:txBody>
      </p:sp>
      <p:sp>
        <p:nvSpPr>
          <p:cNvPr id="23" name="metric-任务保持阶段">
            <a:extLst xmlns:a="http://schemas.openxmlformats.org/drawingml/2006/main">
              <a:ext uri="{FF2B5EF4-FFF2-40B4-BE49-F238E27FC236}">
                <a16:creationId xmlns:a16="http://schemas.microsoft.com/office/drawing/2014/main" id="{B69B0367-25A2-48E0-BE09-84541B8A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2990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accent-任务保持阶段">
            <a:extLst xmlns:a="http://schemas.openxmlformats.org/drawingml/2006/main">
              <a:ext uri="{FF2B5EF4-FFF2-40B4-BE49-F238E27FC236}">
                <a16:creationId xmlns:a16="http://schemas.microsoft.com/office/drawing/2014/main" id="{C3642EC3-176D-4BC8-945C-7E20CA7A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00"/>
          </a:solidFill>
          <a:ln xmlns:a="http://schemas.openxmlformats.org/drawingml/2006/main" w="0">
            <a:solidFill>
              <a:srgbClr val="E57A00"/>
            </a:solidFill>
            <a:prstDash val="solid"/>
          </a:ln>
        </p:spPr>
      </p:sp>
      <p:sp>
        <p:nvSpPr>
          <p:cNvPr id="25" name="title-任务保持阶段">
            <a:extLst xmlns:a="http://schemas.openxmlformats.org/drawingml/2006/main">
              <a:ext uri="{FF2B5EF4-FFF2-40B4-BE49-F238E27FC236}">
                <a16:creationId xmlns:a16="http://schemas.microsoft.com/office/drawing/2014/main" id="{3E6480AB-EC08-415E-BBAD-CFDEBF9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719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任务保持阶段</a:t>
            </a:r>
          </a:p>
        </p:txBody>
      </p:sp>
      <p:sp>
        <p:nvSpPr>
          <p:cNvPr id="26" name="value-任务保持阶段">
            <a:extLst xmlns:a="http://schemas.openxmlformats.org/drawingml/2006/main">
              <a:ext uri="{FF2B5EF4-FFF2-40B4-BE49-F238E27FC236}">
                <a16:creationId xmlns:a16="http://schemas.microsoft.com/office/drawing/2014/main" id="{01C5B055-30CF-4BED-B7F9-241EE1BD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19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57A00"/>
                </a:solidFill>
              </a:defRPr>
            </a:pPr>
            <a:r>
              <a:rPr sz="1875" b="1">
                <a:solidFill>
                  <a:srgbClr val="E57A00"/>
                </a:solidFill>
              </a:rPr>
              <a:t>末端差异 1.56 cm</a:t>
            </a:r>
          </a:p>
        </p:txBody>
      </p:sp>
      <p:sp>
        <p:nvSpPr>
          <p:cNvPr id="27" name="detail-任务保持阶段">
            <a:extLst xmlns:a="http://schemas.openxmlformats.org/drawingml/2006/main">
              <a:ext uri="{FF2B5EF4-FFF2-40B4-BE49-F238E27FC236}">
                <a16:creationId xmlns:a16="http://schemas.microsoft.com/office/drawing/2014/main" id="{59058AAC-DAB7-446D-AEE6-02778A74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00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t = 5.5 s 点赞保持</a:t>
            </a:r>
          </a:p>
        </p:txBody>
      </p:sp>
      <p:sp>
        <p:nvSpPr>
          <p:cNvPr id="28" name="conclusion-bar">
            <a:extLst xmlns:a="http://schemas.openxmlformats.org/drawingml/2006/main">
              <a:ext uri="{FF2B5EF4-FFF2-40B4-BE49-F238E27FC236}">
                <a16:creationId xmlns:a16="http://schemas.microsoft.com/office/drawing/2014/main" id="{D89B3616-E80F-499E-B43F-0B42BA90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F1FB"/>
          </a:solidFill>
          <a:ln xmlns:a="http://schemas.openxmlformats.org/drawingml/2006/main" w="9525">
            <a:solidFill>
              <a:srgbClr val="7AA9D1"/>
            </a:solidFill>
            <a:prstDash val="solid"/>
          </a:ln>
        </p:spPr>
      </p:sp>
      <p:sp>
        <p:nvSpPr>
          <p:cNvPr id="29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66E8C351-D243-4348-A244-8CA92B6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结论</a:t>
            </a:r>
          </a:p>
        </p:txBody>
      </p:sp>
      <p:sp>
        <p:nvSpPr>
          <p:cNvPr id="30" name="conclusion">
            <a:extLst xmlns:a="http://schemas.openxmlformats.org/drawingml/2006/main">
              <a:ext uri="{FF2B5EF4-FFF2-40B4-BE49-F238E27FC236}">
                <a16:creationId xmlns:a16="http://schemas.microsoft.com/office/drawing/2014/main" id="{901D07BA-7666-4BBB-A5A6-999A0C3A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1002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OSCBF拒绝A4负向越限，并通过全身关节重分配绕开障碍物；安全层会改变局部轨迹，但点赞保持阶段的末端位置与原动作仅相差1.56 cm。</a:t>
            </a:r>
          </a:p>
        </p:txBody>
      </p:sp>
    </p:spTree>
    <p:extLst>
      <p:ext uri="{BB962C8B-B14F-4D97-AF65-F5344CB8AC3E}">
        <p14:creationId xmlns:p14="http://schemas.microsoft.com/office/powerpoint/2010/main" val="1541933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2026-08-03T03:32:26.8490000Z</dcterms:created>
  <dcterms:modified xsi:type="dcterms:W3CDTF">2026-08-03T03:32:26.8500000Z</dcterms:modified>
</coreProperties>
</file>